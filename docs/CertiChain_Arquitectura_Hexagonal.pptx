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2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CertiChain</a:t>
            </a:r>
          </a:p>
          <a:p>
            <a:pPr>
              <a:defRPr sz="2300">
                <a:solidFill>
                  <a:srgbClr val="CDDCF0"/>
                </a:solidFill>
              </a:defRPr>
            </a:pPr>
            <a:r>
              <a:t>Arquitectura Hexagonal aplicada a la emisión y verificación de certificados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42062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Ports &amp; Adapters • TypeScript + NestJS • Blockchain simulada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1. Problema que resuelve CertiChain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</a:defRPr>
            </a:pPr>
            <a:r>
              <a:t>• Los certificados académicos pueden entregarse como papel o PDF sin un mecanismo inmediato de autenticación.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</a:defRPr>
            </a:pPr>
            <a:r>
              <a:t>• La verificación tradicional depende de contactar a la institución emisora: es lenta y genera carga operativa.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</a:defRPr>
            </a:pPr>
            <a:r>
              <a:t>• CertiChain registra la huella SHA-256 del certificado y la ancla en una cadena de bloques.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</a:defRPr>
            </a:pPr>
            <a:r>
              <a:t>• El verificador puede comprobar autenticidad, integridad y vigencia mediante un código de verificación.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CertiChain • Arquitectura Hexagonal •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69494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2. ¿Qué aporta la Arquitectura Hexagonal?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El negocio queda en el centro; la tecnología se conecta mediante puertos y adaptadores.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7472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600200"/>
            <a:ext cx="31455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69B4"/>
                </a:solidFill>
              </a:defRPr>
            </a:pPr>
            <a:r>
              <a:t>Dominio independiente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029968"/>
            <a:ext cx="29888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rPr dirty="0"/>
              <a:t>Reglas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quién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emitir</a:t>
            </a:r>
            <a:r>
              <a:rPr dirty="0"/>
              <a:t>, </a:t>
            </a:r>
            <a:r>
              <a:rPr dirty="0" err="1"/>
              <a:t>cuándo</a:t>
            </a:r>
            <a:r>
              <a:rPr dirty="0"/>
              <a:t> </a:t>
            </a:r>
            <a:r>
              <a:rPr dirty="0" err="1"/>
              <a:t>revocar</a:t>
            </a:r>
            <a:r>
              <a:rPr dirty="0"/>
              <a:t> y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validar</a:t>
            </a:r>
            <a:r>
              <a:rPr dirty="0"/>
              <a:t> </a:t>
            </a:r>
            <a:r>
              <a:rPr dirty="0" err="1"/>
              <a:t>integridad</a:t>
            </a:r>
            <a:r>
              <a:rPr dirty="0"/>
              <a:t> no </a:t>
            </a:r>
            <a:r>
              <a:rPr dirty="0" err="1"/>
              <a:t>dependen</a:t>
            </a:r>
            <a:r>
              <a:rPr dirty="0"/>
              <a:t> de </a:t>
            </a:r>
            <a:r>
              <a:rPr dirty="0" err="1"/>
              <a:t>NestJS</a:t>
            </a:r>
            <a:endParaRPr lang="es-PE" dirty="0"/>
          </a:p>
          <a:p>
            <a:pPr>
              <a:defRPr sz="1350">
                <a:solidFill>
                  <a:srgbClr val="232A34"/>
                </a:solidFill>
              </a:defRPr>
            </a:pPr>
            <a:r>
              <a:rPr dirty="0"/>
              <a:t>, SQLite o blockchain.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86491"/>
            <a:ext cx="347472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E7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600200"/>
            <a:ext cx="31455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5F"/>
                </a:solidFill>
              </a:defRPr>
            </a:pPr>
            <a:r>
              <a:t>Tecnología intercambiable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029968"/>
            <a:ext cx="3145536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350">
                <a:solidFill>
                  <a:srgbClr val="232A34"/>
                </a:solidFill>
              </a:defRPr>
            </a:pPr>
            <a:r>
              <a:rPr dirty="0"/>
              <a:t>La blockchain es un </a:t>
            </a:r>
            <a:r>
              <a:rPr dirty="0" err="1"/>
              <a:t>detalle</a:t>
            </a:r>
            <a:r>
              <a:rPr dirty="0"/>
              <a:t> de </a:t>
            </a:r>
            <a:r>
              <a:rPr dirty="0" err="1"/>
              <a:t>infraestructura</a:t>
            </a:r>
            <a:r>
              <a:rPr dirty="0"/>
              <a:t>.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cambiarse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testnet</a:t>
            </a:r>
            <a:r>
              <a:rPr dirty="0"/>
              <a:t> sin </a:t>
            </a:r>
            <a:r>
              <a:rPr dirty="0" err="1"/>
              <a:t>modificar</a:t>
            </a:r>
            <a:r>
              <a:rPr dirty="0"/>
              <a:t> el </a:t>
            </a:r>
            <a:r>
              <a:rPr dirty="0" err="1"/>
              <a:t>núcleo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50702" y="1342809"/>
            <a:ext cx="347472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5294" y="1434249"/>
            <a:ext cx="31455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822D"/>
                </a:solidFill>
              </a:defRPr>
            </a:pPr>
            <a:r>
              <a:rPr dirty="0"/>
              <a:t>Alta </a:t>
            </a:r>
            <a:r>
              <a:rPr dirty="0" err="1"/>
              <a:t>testabilidad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288205" y="1877055"/>
            <a:ext cx="339971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rPr dirty="0"/>
              <a:t>Dominio y </a:t>
            </a:r>
            <a:r>
              <a:rPr dirty="0" err="1"/>
              <a:t>casos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probarse</a:t>
            </a:r>
            <a:r>
              <a:rPr dirty="0"/>
              <a:t> con </a:t>
            </a:r>
            <a:endParaRPr lang="es-PE" dirty="0"/>
          </a:p>
          <a:p>
            <a:pPr>
              <a:defRPr sz="1350">
                <a:solidFill>
                  <a:srgbClr val="232A34"/>
                </a:solidFill>
              </a:defRPr>
            </a:pPr>
            <a:r>
              <a:rPr dirty="0"/>
              <a:t>fakes, sin HTTP, base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framework.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3794760"/>
            <a:ext cx="347472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33472" y="3931920"/>
            <a:ext cx="31455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69B4"/>
                </a:solidFill>
              </a:defRPr>
            </a:pPr>
            <a:r>
              <a:t>Mantenibilidad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4361688"/>
            <a:ext cx="3311612" cy="7155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1350">
                <a:solidFill>
                  <a:srgbClr val="232A34"/>
                </a:solidFill>
              </a:defRPr>
            </a:pPr>
            <a:r>
              <a:rPr dirty="0"/>
              <a:t>Los </a:t>
            </a:r>
            <a:r>
              <a:rPr dirty="0" err="1"/>
              <a:t>cambios</a:t>
            </a:r>
            <a:r>
              <a:rPr dirty="0"/>
              <a:t> </a:t>
            </a:r>
            <a:r>
              <a:rPr dirty="0" err="1"/>
              <a:t>quedan</a:t>
            </a:r>
            <a:r>
              <a:rPr dirty="0"/>
              <a:t> </a:t>
            </a:r>
            <a:r>
              <a:rPr dirty="0" err="1"/>
              <a:t>aislados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endParaRPr lang="es-PE" dirty="0"/>
          </a:p>
          <a:p>
            <a:pPr algn="just">
              <a:defRPr sz="1350">
                <a:solidFill>
                  <a:srgbClr val="232A34"/>
                </a:solidFill>
              </a:defRPr>
            </a:pPr>
            <a:r>
              <a:rPr dirty="0" err="1"/>
              <a:t>adaptadores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no </a:t>
            </a:r>
            <a:r>
              <a:rPr dirty="0" err="1"/>
              <a:t>afectan</a:t>
            </a:r>
            <a:r>
              <a:rPr dirty="0"/>
              <a:t> las </a:t>
            </a:r>
            <a:r>
              <a:rPr dirty="0" err="1"/>
              <a:t>reglas</a:t>
            </a:r>
            <a:r>
              <a:rPr dirty="0"/>
              <a:t> de</a:t>
            </a:r>
            <a:endParaRPr lang="es-PE" dirty="0"/>
          </a:p>
          <a:p>
            <a:pPr algn="just">
              <a:defRPr sz="1350">
                <a:solidFill>
                  <a:srgbClr val="232A34"/>
                </a:solidFill>
              </a:defRPr>
            </a:pPr>
            <a:r>
              <a:rPr dirty="0"/>
              <a:t> </a:t>
            </a:r>
            <a:r>
              <a:rPr dirty="0" err="1"/>
              <a:t>negocio</a:t>
            </a:r>
            <a:r>
              <a:rPr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94760"/>
            <a:ext cx="347472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2E7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3931920"/>
            <a:ext cx="31455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5F"/>
                </a:solidFill>
              </a:defRPr>
            </a:pPr>
            <a:r>
              <a:t>Evolución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3" y="4361688"/>
            <a:ext cx="3176016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incorporar</a:t>
            </a:r>
            <a:r>
              <a:rPr dirty="0"/>
              <a:t> </a:t>
            </a:r>
            <a:r>
              <a:rPr dirty="0" err="1"/>
              <a:t>nuevas</a:t>
            </a:r>
            <a:r>
              <a:rPr dirty="0"/>
              <a:t> </a:t>
            </a:r>
            <a:r>
              <a:rPr dirty="0" err="1"/>
              <a:t>persistencias</a:t>
            </a:r>
            <a:r>
              <a:rPr dirty="0"/>
              <a:t> o </a:t>
            </a:r>
            <a:endParaRPr lang="es-PE" dirty="0"/>
          </a:p>
          <a:p>
            <a:pPr>
              <a:defRPr sz="1350">
                <a:solidFill>
                  <a:srgbClr val="232A34"/>
                </a:solidFill>
              </a:defRPr>
            </a:pPr>
            <a:r>
              <a:rPr dirty="0" err="1"/>
              <a:t>integraciones</a:t>
            </a:r>
            <a:r>
              <a:rPr dirty="0"/>
              <a:t> </a:t>
            </a:r>
            <a:r>
              <a:rPr dirty="0" err="1"/>
              <a:t>conservando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mismos</a:t>
            </a:r>
            <a:r>
              <a:rPr dirty="0"/>
              <a:t> </a:t>
            </a:r>
            <a:r>
              <a:rPr dirty="0" err="1"/>
              <a:t>contratos</a:t>
            </a:r>
            <a:r>
              <a:rPr dirty="0"/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CertiChain • Arquitectura Hexagonal •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3. Arquitectura Hexagonal en CertiChain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047" y="1234440"/>
            <a:ext cx="10515600" cy="566928"/>
          </a:xfrm>
          <a:prstGeom prst="roundRect">
            <a:avLst/>
          </a:prstGeom>
          <a:solidFill>
            <a:srgbClr val="E1EBF8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0927" y="1307592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A34"/>
                </a:solidFill>
              </a:defRPr>
            </a:pPr>
            <a:r>
              <a:t>ADAPTERS INBOUND  —  REST / NestJS Controllers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227" y="1947672"/>
            <a:ext cx="9921240" cy="566928"/>
          </a:xfrm>
          <a:prstGeom prst="roundRect">
            <a:avLst/>
          </a:prstGeom>
          <a:solidFill>
            <a:srgbClr val="E8F0FA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18107" y="2020824"/>
            <a:ext cx="9555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A34"/>
                </a:solidFill>
              </a:defRPr>
            </a:pPr>
            <a:r>
              <a:t>PORTS INBOUND  —  Casos de uso expuestos como interfaces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2407" y="2660904"/>
            <a:ext cx="9326880" cy="566928"/>
          </a:xfrm>
          <a:prstGeom prst="roundRect">
            <a:avLst/>
          </a:prstGeom>
          <a:solidFill>
            <a:srgbClr val="DCEEE6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15287" y="2734056"/>
            <a:ext cx="89611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A34"/>
                </a:solidFill>
              </a:defRPr>
            </a:pPr>
            <a:r>
              <a:t>CORE / APPLICATION  —  Issue • Verify • Revoke • Register •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9587" y="3374136"/>
            <a:ext cx="8732520" cy="566928"/>
          </a:xfrm>
          <a:prstGeom prst="roundRect">
            <a:avLst/>
          </a:prstGeom>
          <a:solidFill>
            <a:srgbClr val="CDE4D7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12467" y="3447288"/>
            <a:ext cx="8366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A34"/>
                </a:solidFill>
              </a:defRPr>
            </a:pPr>
            <a:r>
              <a:t>CORE / DOMAIN  —  Institution • Certificate • Block • reglas de negocio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26767" y="4087368"/>
            <a:ext cx="8138160" cy="566928"/>
          </a:xfrm>
          <a:prstGeom prst="roundRect">
            <a:avLst/>
          </a:prstGeom>
          <a:solidFill>
            <a:srgbClr val="E8F0FA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09647" y="41605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A34"/>
                </a:solidFill>
              </a:defRPr>
            </a:pPr>
            <a:r>
              <a:t>PORTS OUTBOUND  —  Repositories • CertificateLedger • Clock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23947" y="4800600"/>
            <a:ext cx="7543800" cy="566928"/>
          </a:xfrm>
          <a:prstGeom prst="roundRect">
            <a:avLst/>
          </a:prstGeom>
          <a:solidFill>
            <a:srgbClr val="F5EBD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06827" y="4873752"/>
            <a:ext cx="7178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A34"/>
                </a:solidFill>
              </a:defRPr>
            </a:pPr>
            <a:r>
              <a:t>ADAPTERS OUTBOUND  —  SQLite • Blockchain • SystemClock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CertiChain • Arquitectura Hexagonal •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4. Ventajas concretas para 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• Desacoplamiento: el dominio no importa adaptadores ni configuración.</a:t>
            </a:r>
          </a:p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• Portabilidad: SQLite puede evolucionar a PostgreSQL mediante nuevos adaptadores.</a:t>
            </a:r>
          </a:p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• Blockchain intercambiable: el puerto CertificateLedger permite sustituir la cadena simulada por una testnet.</a:t>
            </a:r>
          </a:p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• Pruebas rápidas: los casos de uso usan repositorios y ledger fake en memoria.</a:t>
            </a:r>
          </a:p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• Menor impacto de cambios: modificar infraestructura no obliga a modificar las reglas de negocio.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CertiChain • Arquitectura Hexagonal •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5. ¿Cómo se aplica en la emisión de certificados?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08760"/>
            <a:ext cx="566928" cy="566928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07007" y="1792224"/>
            <a:ext cx="1719073" cy="0"/>
          </a:xfrm>
          <a:prstGeom prst="line">
            <a:avLst/>
          </a:prstGeom>
          <a:ln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19" y="2286000"/>
            <a:ext cx="201168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423160"/>
            <a:ext cx="1682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69B4"/>
                </a:solidFill>
              </a:defRPr>
            </a:pPr>
            <a:r>
              <a:t>Solicitud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52928"/>
            <a:ext cx="168249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POST /certificates</a:t>
            </a:r>
          </a:p>
        </p:txBody>
      </p:sp>
      <p:sp>
        <p:nvSpPr>
          <p:cNvPr id="10" name="Oval 9"/>
          <p:cNvSpPr/>
          <p:nvPr/>
        </p:nvSpPr>
        <p:spPr>
          <a:xfrm>
            <a:off x="2926080" y="1508760"/>
            <a:ext cx="566928" cy="566928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62763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93008" y="1792224"/>
            <a:ext cx="1719072" cy="0"/>
          </a:xfrm>
          <a:prstGeom prst="line">
            <a:avLst/>
          </a:prstGeom>
          <a:ln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88920" y="2286000"/>
            <a:ext cx="201168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E7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53512" y="2423160"/>
            <a:ext cx="1682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5F"/>
                </a:solidFill>
              </a:defRPr>
            </a:pPr>
            <a:r>
              <a:t>Validación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1" y="2852928"/>
            <a:ext cx="15883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rPr dirty="0"/>
              <a:t>Se </a:t>
            </a:r>
            <a:r>
              <a:rPr dirty="0" err="1"/>
              <a:t>obtiene</a:t>
            </a:r>
            <a:r>
              <a:rPr dirty="0"/>
              <a:t> la </a:t>
            </a:r>
            <a:r>
              <a:rPr dirty="0" err="1"/>
              <a:t>institución</a:t>
            </a:r>
            <a:r>
              <a:rPr dirty="0"/>
              <a:t> y se </a:t>
            </a:r>
            <a:r>
              <a:rPr dirty="0" err="1"/>
              <a:t>valida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esté</a:t>
            </a:r>
            <a:r>
              <a:rPr dirty="0"/>
              <a:t> </a:t>
            </a:r>
            <a:r>
              <a:rPr dirty="0" err="1"/>
              <a:t>activa</a:t>
            </a:r>
            <a:r>
              <a:rPr dirty="0"/>
              <a:t>.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0" y="1508760"/>
            <a:ext cx="566928" cy="566928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0" y="162763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79008" y="1792224"/>
            <a:ext cx="1719071" cy="0"/>
          </a:xfrm>
          <a:prstGeom prst="line">
            <a:avLst/>
          </a:prstGeom>
          <a:ln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74920" y="2286000"/>
            <a:ext cx="201168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39512" y="2423160"/>
            <a:ext cx="1682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69B4"/>
                </a:solidFill>
              </a:defRPr>
            </a:pPr>
            <a:r>
              <a:t>Dominio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852928"/>
            <a:ext cx="1615743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rPr dirty="0"/>
              <a:t>Certificate </a:t>
            </a:r>
            <a:r>
              <a:rPr dirty="0" err="1"/>
              <a:t>aplica</a:t>
            </a:r>
            <a:r>
              <a:rPr dirty="0"/>
              <a:t> </a:t>
            </a:r>
            <a:r>
              <a:rPr dirty="0" err="1"/>
              <a:t>reglas</a:t>
            </a:r>
            <a:r>
              <a:rPr dirty="0"/>
              <a:t> y </a:t>
            </a:r>
            <a:r>
              <a:rPr dirty="0" err="1"/>
              <a:t>calcula</a:t>
            </a:r>
            <a:r>
              <a:rPr dirty="0"/>
              <a:t> hash SHA-256.</a:t>
            </a:r>
          </a:p>
        </p:txBody>
      </p:sp>
      <p:sp>
        <p:nvSpPr>
          <p:cNvPr id="22" name="Oval 21"/>
          <p:cNvSpPr/>
          <p:nvPr/>
        </p:nvSpPr>
        <p:spPr>
          <a:xfrm>
            <a:off x="7498079" y="1508760"/>
            <a:ext cx="566928" cy="566928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79" y="162763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65007" y="1792224"/>
            <a:ext cx="1719073" cy="0"/>
          </a:xfrm>
          <a:prstGeom prst="line">
            <a:avLst/>
          </a:prstGeom>
          <a:ln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60919" y="2286000"/>
            <a:ext cx="201168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E7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25511" y="2423160"/>
            <a:ext cx="1682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5F"/>
                </a:solidFill>
              </a:defRPr>
            </a:pPr>
            <a:r>
              <a:t>Ledger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1" y="2852928"/>
            <a:ext cx="16824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rPr dirty="0" err="1"/>
              <a:t>CertificateLedger</a:t>
            </a:r>
            <a:r>
              <a:rPr dirty="0"/>
              <a:t> </a:t>
            </a:r>
            <a:r>
              <a:rPr dirty="0" err="1"/>
              <a:t>ancla</a:t>
            </a:r>
            <a:r>
              <a:rPr dirty="0"/>
              <a:t> el </a:t>
            </a:r>
            <a:r>
              <a:rPr dirty="0" err="1"/>
              <a:t>evento</a:t>
            </a:r>
            <a:r>
              <a:rPr dirty="0"/>
              <a:t> de </a:t>
            </a:r>
            <a:r>
              <a:rPr dirty="0" err="1"/>
              <a:t>emisión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bloque</a:t>
            </a:r>
            <a:r>
              <a:rPr dirty="0"/>
              <a:t>.</a:t>
            </a:r>
          </a:p>
        </p:txBody>
      </p:sp>
      <p:sp>
        <p:nvSpPr>
          <p:cNvPr id="28" name="Oval 27"/>
          <p:cNvSpPr/>
          <p:nvPr/>
        </p:nvSpPr>
        <p:spPr>
          <a:xfrm>
            <a:off x="9784080" y="1508760"/>
            <a:ext cx="566928" cy="566928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84080" y="162763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19" y="2286000"/>
            <a:ext cx="201168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11511" y="2423160"/>
            <a:ext cx="1682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69B4"/>
                </a:solidFill>
              </a:defRPr>
            </a:pPr>
            <a:r>
              <a:t>Persistencia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1511" y="2852928"/>
            <a:ext cx="16824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rPr dirty="0"/>
              <a:t>Se </a:t>
            </a:r>
            <a:r>
              <a:rPr dirty="0" err="1"/>
              <a:t>guarda</a:t>
            </a:r>
            <a:r>
              <a:rPr dirty="0"/>
              <a:t> el </a:t>
            </a:r>
            <a:r>
              <a:rPr dirty="0" err="1"/>
              <a:t>certificado</a:t>
            </a:r>
            <a:r>
              <a:rPr dirty="0"/>
              <a:t> y se </a:t>
            </a:r>
            <a:r>
              <a:rPr dirty="0" err="1"/>
              <a:t>retorna</a:t>
            </a:r>
            <a:r>
              <a:rPr dirty="0"/>
              <a:t> el </a:t>
            </a:r>
            <a:r>
              <a:rPr dirty="0" err="1"/>
              <a:t>código</a:t>
            </a:r>
            <a:r>
              <a:rPr dirty="0"/>
              <a:t> de </a:t>
            </a:r>
            <a:r>
              <a:rPr dirty="0" err="1"/>
              <a:t>verificación</a:t>
            </a:r>
            <a:r>
              <a:rPr dirty="0"/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CertiChain • Arquitectura Hexagonal •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6. Ejemplo del flujo interno de emisión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r>
              <a:t>• Controller REST recibe los datos y llama al puerto inbound del caso de uso.</a:t>
            </a:r>
          </a:p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r>
              <a:t>• IssueCertificateUseCase consulta InstitutionRepository para validar la institución.</a:t>
            </a:r>
          </a:p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r>
              <a:t>• Certificate (dominio) crea el certificado, aplica invariantes y calcula su hash.</a:t>
            </a:r>
          </a:p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r>
              <a:t>• CertificateLedger recibe el evento y devuelve el bloque creado.</a:t>
            </a:r>
          </a:p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r>
              <a:t>• CertificateRepository persiste el certificado.</a:t>
            </a:r>
          </a:p>
          <a:p>
            <a:pPr>
              <a:spcAft>
                <a:spcPts val="1300"/>
              </a:spcAft>
              <a:defRPr sz="1600">
                <a:solidFill>
                  <a:srgbClr val="232A34"/>
                </a:solidFill>
              </a:defRPr>
            </a:pPr>
            <a:r>
              <a:t>• El adaptador REST responde con verificationCode, contentHash, blockIndex y blockHash.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CertiChain • Arquitectura Hexagonal •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7. Verificación: donde Hexagonal también aporta valor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246120" cy="3200400"/>
          </a:xfrm>
          <a:prstGeom prst="roundRect">
            <a:avLst/>
          </a:prstGeom>
          <a:solidFill>
            <a:srgbClr val="F1F5F9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508760"/>
            <a:ext cx="2916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69B4"/>
                </a:solidFill>
              </a:defRPr>
            </a:pPr>
            <a:r>
              <a:t>Entrada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2916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rPr dirty="0"/>
              <a:t>GET /certificates/:code/verify</a:t>
            </a:r>
            <a:br>
              <a:rPr dirty="0"/>
            </a:br>
            <a:br>
              <a:rPr dirty="0"/>
            </a:br>
            <a:r>
              <a:rPr dirty="0"/>
              <a:t>El </a:t>
            </a:r>
            <a:r>
              <a:rPr dirty="0" err="1"/>
              <a:t>controlador</a:t>
            </a:r>
            <a:r>
              <a:rPr dirty="0"/>
              <a:t> REST solo traduce HTTP al </a:t>
            </a:r>
            <a:r>
              <a:rPr dirty="0" err="1"/>
              <a:t>puerto</a:t>
            </a:r>
            <a:r>
              <a:rPr dirty="0"/>
              <a:t> inbound.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71600"/>
            <a:ext cx="3246120" cy="3200400"/>
          </a:xfrm>
          <a:prstGeom prst="roundRect">
            <a:avLst/>
          </a:prstGeom>
          <a:solidFill>
            <a:srgbClr val="F1F5F9"/>
          </a:solidFill>
          <a:ln>
            <a:solidFill>
              <a:srgbClr val="2E7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45152" y="1508760"/>
            <a:ext cx="2916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5F"/>
                </a:solidFill>
              </a:defRPr>
            </a:pPr>
            <a:r>
              <a:t>Núcleo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1938528"/>
            <a:ext cx="2916936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VerifyCertificateUseCase:</a:t>
            </a:r>
            <a:br/>
            <a:r>
              <a:t>• busca certificado</a:t>
            </a:r>
            <a:br/>
            <a:r>
              <a:t>• recalcula hash</a:t>
            </a:r>
            <a:br/>
            <a:r>
              <a:t>• revisa cadena</a:t>
            </a:r>
            <a:br/>
            <a:r>
              <a:t>• revisa revocación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371600"/>
            <a:ext cx="3246120" cy="3200400"/>
          </a:xfrm>
          <a:prstGeom prst="roundRect">
            <a:avLst/>
          </a:prstGeom>
          <a:solidFill>
            <a:srgbClr val="F1F5F9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9912" y="1508760"/>
            <a:ext cx="2916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822D"/>
                </a:solidFill>
              </a:defRPr>
            </a:pPr>
            <a: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1938528"/>
            <a:ext cx="2719155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rPr dirty="0"/>
              <a:t>VALIDO</a:t>
            </a:r>
            <a:br>
              <a:rPr dirty="0"/>
            </a:br>
            <a:r>
              <a:rPr dirty="0"/>
              <a:t>REVOCADO</a:t>
            </a:r>
            <a:br>
              <a:rPr dirty="0"/>
            </a:br>
            <a:r>
              <a:rPr dirty="0"/>
              <a:t>ALTERADO</a:t>
            </a:r>
            <a:br>
              <a:rPr dirty="0"/>
            </a:br>
            <a:r>
              <a:rPr dirty="0"/>
              <a:t>NO_ENCONTRADO</a:t>
            </a:r>
            <a:br>
              <a:rPr dirty="0"/>
            </a:br>
            <a:br>
              <a:rPr dirty="0"/>
            </a:br>
            <a:r>
              <a:rPr dirty="0"/>
              <a:t>La </a:t>
            </a:r>
            <a:r>
              <a:rPr dirty="0" err="1"/>
              <a:t>respuesta</a:t>
            </a:r>
            <a:r>
              <a:rPr dirty="0"/>
              <a:t> </a:t>
            </a: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de </a:t>
            </a:r>
            <a:r>
              <a:rPr dirty="0" err="1"/>
              <a:t>anclaje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corresponde</a:t>
            </a: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CertiChain • Arquitectura Hexagonal •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8. Evolución tecnológica sin cambiar el negocio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0040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28712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69B4"/>
                </a:solidFill>
              </a:defRPr>
            </a:pPr>
            <a:r>
              <a:t>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84248"/>
            <a:ext cx="2694581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rPr dirty="0"/>
              <a:t>Blockchain </a:t>
            </a:r>
            <a:r>
              <a:rPr dirty="0" err="1"/>
              <a:t>simulada</a:t>
            </a:r>
            <a:br>
              <a:rPr dirty="0"/>
            </a:br>
            <a:br>
              <a:rPr dirty="0"/>
            </a:br>
            <a:r>
              <a:rPr dirty="0"/>
              <a:t>SQLite / </a:t>
            </a:r>
            <a:r>
              <a:rPr dirty="0" err="1"/>
              <a:t>adaptadores</a:t>
            </a:r>
            <a:r>
              <a:rPr dirty="0"/>
              <a:t> </a:t>
            </a:r>
            <a:r>
              <a:rPr dirty="0" err="1"/>
              <a:t>actuales</a:t>
            </a:r>
            <a:br>
              <a:rPr dirty="0"/>
            </a:br>
            <a:br>
              <a:rPr dirty="0"/>
            </a:br>
            <a:r>
              <a:rPr dirty="0"/>
              <a:t>El core </a:t>
            </a:r>
            <a:r>
              <a:rPr dirty="0" err="1"/>
              <a:t>trabaja</a:t>
            </a:r>
            <a:r>
              <a:rPr dirty="0"/>
              <a:t> contra </a:t>
            </a:r>
            <a:r>
              <a:rPr dirty="0" err="1"/>
              <a:t>CertificateLedger</a:t>
            </a:r>
            <a:r>
              <a:rPr dirty="0"/>
              <a:t> y </a:t>
            </a:r>
            <a:r>
              <a:rPr dirty="0" err="1"/>
              <a:t>repositorios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0040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2E7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45152" y="1554480"/>
            <a:ext cx="28712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5F"/>
                </a:solidFill>
              </a:defRPr>
            </a:pPr>
            <a:r>
              <a:t>Mañana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1984248"/>
            <a:ext cx="2871216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Nueva implementación de CertificateLedger</a:t>
            </a:r>
            <a:br/>
            <a:br/>
            <a:r>
              <a:t>Testnet Ethereum/Polygon</a:t>
            </a:r>
            <a:br/>
            <a:br/>
            <a:r>
              <a:t>PostgreSQL como persistencia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17320"/>
            <a:ext cx="320040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94192" y="1554480"/>
            <a:ext cx="28712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822D"/>
                </a:solidFill>
              </a:defRPr>
            </a:pPr>
            <a: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984248"/>
            <a:ext cx="2871216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A34"/>
                </a:solidFill>
              </a:defRPr>
            </a:pPr>
            <a:r>
              <a:t>Se mantienen:</a:t>
            </a:r>
            <a:br/>
            <a:r>
              <a:t>• entidades</a:t>
            </a:r>
            <a:br/>
            <a:r>
              <a:t>• reglas</a:t>
            </a:r>
            <a:br/>
            <a:r>
              <a:t>• casos de uso</a:t>
            </a:r>
            <a:br/>
            <a:r>
              <a:t>• puertos</a:t>
            </a:r>
            <a:br/>
            <a:br/>
            <a:r>
              <a:t>Se reemplaza principalmente infraestructura.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CertiChain • Arquitectura Hexagonal •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78992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• La Arquitectura Hexagonal </a:t>
            </a:r>
            <a:r>
              <a:rPr dirty="0" err="1"/>
              <a:t>mantiene</a:t>
            </a:r>
            <a:r>
              <a:rPr dirty="0"/>
              <a:t> las </a:t>
            </a:r>
            <a:r>
              <a:rPr dirty="0" err="1"/>
              <a:t>reglas</a:t>
            </a:r>
            <a:r>
              <a:rPr dirty="0"/>
              <a:t> de </a:t>
            </a:r>
            <a:r>
              <a:rPr dirty="0" err="1"/>
              <a:t>CertiChain</a:t>
            </a:r>
            <a:r>
              <a:rPr dirty="0"/>
              <a:t> </a:t>
            </a:r>
            <a:r>
              <a:rPr dirty="0" err="1"/>
              <a:t>independientes</a:t>
            </a:r>
            <a:r>
              <a:rPr dirty="0"/>
              <a:t> de la </a:t>
            </a:r>
            <a:r>
              <a:rPr dirty="0" err="1"/>
              <a:t>tecnología</a:t>
            </a:r>
            <a:r>
              <a:rPr dirty="0"/>
              <a:t>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• En </a:t>
            </a:r>
            <a:r>
              <a:rPr dirty="0" err="1"/>
              <a:t>emisión</a:t>
            </a:r>
            <a:r>
              <a:rPr dirty="0"/>
              <a:t> y </a:t>
            </a:r>
            <a:r>
              <a:rPr dirty="0" err="1"/>
              <a:t>verificación</a:t>
            </a:r>
            <a:r>
              <a:rPr dirty="0"/>
              <a:t>,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casos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concentran</a:t>
            </a:r>
            <a:r>
              <a:rPr dirty="0"/>
              <a:t> la </a:t>
            </a:r>
            <a:r>
              <a:rPr dirty="0" err="1"/>
              <a:t>lógica</a:t>
            </a:r>
            <a:r>
              <a:rPr dirty="0"/>
              <a:t> 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adaptadores</a:t>
            </a:r>
            <a:r>
              <a:rPr dirty="0"/>
              <a:t> </a:t>
            </a:r>
            <a:r>
              <a:rPr dirty="0" err="1"/>
              <a:t>manejan</a:t>
            </a:r>
            <a:r>
              <a:rPr dirty="0"/>
              <a:t> REST, </a:t>
            </a:r>
            <a:r>
              <a:rPr dirty="0" err="1"/>
              <a:t>persistencia</a:t>
            </a:r>
            <a:r>
              <a:rPr dirty="0"/>
              <a:t> y blockchain.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• El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preparado</a:t>
            </a:r>
            <a:r>
              <a:rPr dirty="0"/>
              <a:t> para </a:t>
            </a:r>
            <a:r>
              <a:rPr dirty="0" err="1"/>
              <a:t>evolucionar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blockchain </a:t>
            </a:r>
            <a:r>
              <a:rPr dirty="0" err="1"/>
              <a:t>simulada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infraestructura</a:t>
            </a:r>
            <a:r>
              <a:rPr dirty="0"/>
              <a:t> real.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rPr dirty="0"/>
              <a:t>• El principal </a:t>
            </a:r>
            <a:r>
              <a:rPr dirty="0" err="1"/>
              <a:t>beneficio</a:t>
            </a:r>
            <a:r>
              <a:rPr dirty="0"/>
              <a:t> no es la forma del </a:t>
            </a:r>
            <a:r>
              <a:rPr dirty="0" err="1"/>
              <a:t>hexágono</a:t>
            </a:r>
            <a:r>
              <a:rPr dirty="0"/>
              <a:t>: es </a:t>
            </a:r>
            <a:r>
              <a:rPr dirty="0" err="1"/>
              <a:t>controlar</a:t>
            </a:r>
            <a:r>
              <a:rPr dirty="0"/>
              <a:t> la </a:t>
            </a:r>
            <a:r>
              <a:rPr dirty="0" err="1"/>
              <a:t>dirección</a:t>
            </a:r>
            <a:r>
              <a:rPr dirty="0"/>
              <a:t> de las </a:t>
            </a:r>
            <a:r>
              <a:rPr dirty="0" err="1"/>
              <a:t>dependencias</a:t>
            </a:r>
            <a:r>
              <a:rPr dirty="0"/>
              <a:t> y </a:t>
            </a:r>
            <a:r>
              <a:rPr dirty="0" err="1"/>
              <a:t>proteger</a:t>
            </a:r>
            <a:r>
              <a:rPr dirty="0"/>
              <a:t> el </a:t>
            </a:r>
            <a:r>
              <a:rPr dirty="0" err="1"/>
              <a:t>núcleo</a:t>
            </a:r>
            <a:r>
              <a:rPr dirty="0"/>
              <a:t> del </a:t>
            </a:r>
            <a:r>
              <a:rPr dirty="0" err="1"/>
              <a:t>negocio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765</Words>
  <Application>Microsoft Office PowerPoint</Application>
  <PresentationFormat>Panorámica</PresentationFormat>
  <Paragraphs>88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Soto Carhuapoma, Erickson Alexis</cp:lastModifiedBy>
  <cp:revision>2</cp:revision>
  <dcterms:created xsi:type="dcterms:W3CDTF">2013-01-27T09:14:16Z</dcterms:created>
  <dcterms:modified xsi:type="dcterms:W3CDTF">2026-08-11T03:23:32Z</dcterms:modified>
  <cp:category/>
</cp:coreProperties>
</file>